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D948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68680"/>
            <a:ext cx="822960" cy="82296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92024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KUBEGUARD</a:t>
            </a:r>
            <a:endParaRPr lang="en-US" sz="5400" dirty="0"/>
          </a:p>
        </p:txBody>
      </p:sp>
      <p:sp>
        <p:nvSpPr>
          <p:cNvPr id="5" name="Text 2"/>
          <p:cNvSpPr/>
          <p:nvPr/>
        </p:nvSpPr>
        <p:spPr>
          <a:xfrm>
            <a:off x="841248" y="27889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posture &amp; compliance — the problems it solves for regulated business</a:t>
            </a:r>
            <a:endParaRPr lang="en-US" sz="1900" dirty="0"/>
          </a:p>
        </p:txBody>
      </p:sp>
      <p:sp>
        <p:nvSpPr>
          <p:cNvPr id="6" name="Text 3"/>
          <p:cNvSpPr/>
          <p:nvPr/>
        </p:nvSpPr>
        <p:spPr>
          <a:xfrm>
            <a:off x="841248" y="34564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pPr indent="0" marL="0">
              <a:buNone/>
            </a:pPr>
            <a:r>
              <a:rPr lang="en-US" sz="1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  </a:t>
            </a:r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841248" y="4937760"/>
            <a:ext cx="3246120" cy="914400"/>
          </a:xfrm>
          <a:prstGeom prst="rect">
            <a:avLst/>
          </a:prstGeom>
          <a:solidFill>
            <a:srgbClr val="163B3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69848" y="5074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Saudi / GCC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069848" y="5413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 ECC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315968" y="4937760"/>
            <a:ext cx="3246120" cy="914400"/>
          </a:xfrm>
          <a:prstGeom prst="rect">
            <a:avLst/>
          </a:prstGeom>
          <a:solidFill>
            <a:srgbClr val="163B3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544568" y="5074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England / UK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544568" y="5413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NCSC CAF · UK GDPR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7790688" y="4937760"/>
            <a:ext cx="3246120" cy="914400"/>
          </a:xfrm>
          <a:prstGeom prst="rect">
            <a:avLst/>
          </a:prstGeom>
          <a:solidFill>
            <a:srgbClr val="163B3C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19288" y="507492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8019288" y="5413248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ISO · NIST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41248" y="6172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F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 ·  read-only against clusters  ·  zero telemetry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KubeGuard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Go tool that reads declarative Kubernetes manifests or a live cluster (read-only), finds the security misconfigurations that auditors and attackers both care about, links them into attack paths, and emits the fix — plus an auditor-ready compliance scorecard against six frameworks.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822960" y="251460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97280" y="274320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681" y="289060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069080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9" name="Text 6"/>
          <p:cNvSpPr/>
          <p:nvPr/>
        </p:nvSpPr>
        <p:spPr>
          <a:xfrm>
            <a:off x="1097280" y="34564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1097280" y="385876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deterministic, evidence-backed checks (CIS / NSA-mapped) across RBAC, host access, network, workload &amp; supply chain.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416552" y="251460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90872" y="274320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8273" y="2890601"/>
            <a:ext cx="272125" cy="272125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662672" y="338328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3000" dirty="0"/>
          </a:p>
        </p:txBody>
      </p:sp>
      <p:sp>
        <p:nvSpPr>
          <p:cNvPr id="15" name="Text 11"/>
          <p:cNvSpPr/>
          <p:nvPr/>
        </p:nvSpPr>
        <p:spPr>
          <a:xfrm>
            <a:off x="4690872" y="34564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690872" y="385876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compose into capability-based attack paths, each hop tagged with a MITRE ATT&amp;CK technique — narrative, never a runnable exploit.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010144" y="251460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84464" y="274320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1865" y="2890601"/>
            <a:ext cx="272125" cy="272125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284464" y="34564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HARDEN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284464" y="3858768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a least-privilege baseline and per-finding fix snippets that drive findings — and the attack paths — to zero.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822960" y="5257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deployment modes, one engine:  </a:t>
            </a:r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· CI gate (fail-on severity) · kubectl plugin · live read-only scan · REST service + dashboard · validating admission webhook.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a misconfigured cluster is a compliance problem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0515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Kubernetes ships insecure-by-default. The same defaults that let attackers escalate are the exact things every framework tells you to control — yet they live in YAML no auditor reads. KubeGuard turns that gap into evidence.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" y="2286000"/>
            <a:ext cx="5212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78992" y="256032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6393" y="270772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542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Excess privilege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828800" y="2926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cluster-admin bindings, wildcard RBAC, Secret-read, default ServiceAccounts — least-privilege failures (KG-011→016).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2286000"/>
            <a:ext cx="5212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519672" y="256032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7073" y="2707721"/>
            <a:ext cx="272125" cy="272125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269480" y="2542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boundary breaks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7269480" y="292608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privileged containers, hostPath, hostPID/Network/IPC, dangerous capabilities — process-isolation failures (KG-001→008).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22960" y="4069080"/>
            <a:ext cx="5212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1078992" y="434340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393" y="4490801"/>
            <a:ext cx="272125" cy="272125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828800" y="43251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 networks</a:t>
            </a:r>
            <a:endParaRPr lang="en-US" sz="1600" dirty="0"/>
          </a:p>
        </p:txBody>
      </p:sp>
      <p:sp>
        <p:nvSpPr>
          <p:cNvPr id="19" name="Text 14"/>
          <p:cNvSpPr/>
          <p:nvPr/>
        </p:nvSpPr>
        <p:spPr>
          <a:xfrm>
            <a:off x="1828800" y="47091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default-deny NetworkPolicy, services exposed straight to the internet — boundary-protection failures (KG-017, KG-018).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6263640" y="4069080"/>
            <a:ext cx="5212080" cy="16002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6519672" y="4343400"/>
            <a:ext cx="566928" cy="566928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073" y="4490801"/>
            <a:ext cx="272125" cy="272125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269480" y="432511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workload hygiene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7269480" y="4709160"/>
            <a:ext cx="4023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run-as-root, no seccomp, mutable image tags, missing limits — secure-config &amp; supply-chain gaps (KG-006→020).</a:t>
            </a:r>
            <a:endParaRPr lang="en-US" sz="1150" dirty="0"/>
          </a:p>
        </p:txBody>
      </p:sp>
      <p:sp>
        <p:nvSpPr>
          <p:cNvPr id="25" name="Text 19"/>
          <p:cNvSpPr/>
          <p:nvPr/>
        </p:nvSpPr>
        <p:spPr>
          <a:xfrm>
            <a:off x="822960" y="608076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checks · 5 categories · every finding carries the resource, the evidence, and the remediation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2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YAML to an audit verdict — honestly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74520"/>
            <a:ext cx="2468880" cy="2331720"/>
          </a:xfrm>
          <a:prstGeom prst="rect">
            <a:avLst/>
          </a:prstGeom>
          <a:solidFill>
            <a:srgbClr val="163B3C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78992" y="2103120"/>
            <a:ext cx="548640" cy="548640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21638" y="2245766"/>
            <a:ext cx="263347" cy="263347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78992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1078992" y="32004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Manifests, snapshots, or a live read-only cluster scan.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3218688" y="26974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3611880" y="1874520"/>
            <a:ext cx="2468880" cy="2331720"/>
          </a:xfrm>
          <a:prstGeom prst="rect">
            <a:avLst/>
          </a:prstGeom>
          <a:solidFill>
            <a:srgbClr val="163B3C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867912" y="2103120"/>
            <a:ext cx="548640" cy="548640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0558" y="2245766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67912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600" dirty="0"/>
          </a:p>
        </p:txBody>
      </p:sp>
      <p:sp>
        <p:nvSpPr>
          <p:cNvPr id="14" name="Text 10"/>
          <p:cNvSpPr/>
          <p:nvPr/>
        </p:nvSpPr>
        <p:spPr>
          <a:xfrm>
            <a:off x="3867912" y="32004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checks fire deterministically, each with evidence + severity.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6007608" y="26974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16" name="Shape 12"/>
          <p:cNvSpPr/>
          <p:nvPr/>
        </p:nvSpPr>
        <p:spPr>
          <a:xfrm>
            <a:off x="6400800" y="1874520"/>
            <a:ext cx="2468880" cy="2331720"/>
          </a:xfrm>
          <a:prstGeom prst="rect">
            <a:avLst/>
          </a:prstGeom>
          <a:solidFill>
            <a:srgbClr val="163B3C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656832" y="2103120"/>
            <a:ext cx="548640" cy="548640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9478" y="2245766"/>
            <a:ext cx="263347" cy="263347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56832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</a:t>
            </a:r>
            <a:endParaRPr lang="en-US" sz="1600" dirty="0"/>
          </a:p>
        </p:txBody>
      </p:sp>
      <p:sp>
        <p:nvSpPr>
          <p:cNvPr id="20" name="Text 15"/>
          <p:cNvSpPr/>
          <p:nvPr/>
        </p:nvSpPr>
        <p:spPr>
          <a:xfrm>
            <a:off x="6656832" y="32004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Data-driven YAML packs map each control → the checks that assess it.</a:t>
            </a:r>
            <a:endParaRPr lang="en-US" sz="1150" dirty="0"/>
          </a:p>
        </p:txBody>
      </p:sp>
      <p:sp>
        <p:nvSpPr>
          <p:cNvPr id="21" name="Text 16"/>
          <p:cNvSpPr/>
          <p:nvPr/>
        </p:nvSpPr>
        <p:spPr>
          <a:xfrm>
            <a:off x="8796528" y="2697480"/>
            <a:ext cx="502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59E0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600" dirty="0"/>
          </a:p>
        </p:txBody>
      </p:sp>
      <p:sp>
        <p:nvSpPr>
          <p:cNvPr id="22" name="Shape 17"/>
          <p:cNvSpPr/>
          <p:nvPr/>
        </p:nvSpPr>
        <p:spPr>
          <a:xfrm>
            <a:off x="9189720" y="1874520"/>
            <a:ext cx="2468880" cy="2331720"/>
          </a:xfrm>
          <a:prstGeom prst="rect">
            <a:avLst/>
          </a:prstGeom>
          <a:solidFill>
            <a:srgbClr val="163B3C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445752" y="2103120"/>
            <a:ext cx="548640" cy="548640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8398" y="2245766"/>
            <a:ext cx="263347" cy="263347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445752" y="27889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Scorecard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9445752" y="3200400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“breached of assessed” per framework — never a bare verdict.</a:t>
            </a:r>
            <a:endParaRPr lang="en-US" sz="1150" dirty="0"/>
          </a:p>
        </p:txBody>
      </p:sp>
      <p:sp>
        <p:nvSpPr>
          <p:cNvPr id="27" name="Shape 21"/>
          <p:cNvSpPr/>
          <p:nvPr/>
        </p:nvSpPr>
        <p:spPr>
          <a:xfrm>
            <a:off x="822960" y="4617720"/>
            <a:ext cx="10515600" cy="1417320"/>
          </a:xfrm>
          <a:prstGeom prst="rect">
            <a:avLst/>
          </a:prstGeom>
          <a:solidFill>
            <a:srgbClr val="163B3C"/>
          </a:solidFill>
          <a:ln w="12700">
            <a:solidFill>
              <a:srgbClr val="F59E0B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97280" y="4892040"/>
            <a:ext cx="502920" cy="50292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783080" y="4800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Honest-metrics guardrail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1783080" y="5166360"/>
            <a:ext cx="9326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C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Pass-rates are always reported with their assessed denominator and an “indicative mapping” disclaimer. KubeGuard never claims a control is certified — it shows you the evidence and lets the assessor decide. Secret values are redacted to key-name only.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548640" cy="548640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599846"/>
            <a:ext cx="263347" cy="2633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LENS · KINGDOM OF SAUDI ARABIA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22960" y="10972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Saudi NCA Essential Cybersecurity Controls (ECC)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822960" y="1810512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KubeGuard ships an NCA ECC pack mapping cluster checks to four ECC domains — the controls every government entity and Critical National Infrastructure operator in KSA must satisfy.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560320"/>
            <a:ext cx="10515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560320"/>
            <a:ext cx="1051560" cy="8412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9" name="Text 6"/>
          <p:cNvSpPr/>
          <p:nvPr/>
        </p:nvSpPr>
        <p:spPr>
          <a:xfrm>
            <a:off x="822960" y="281635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2-2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2057400" y="2670048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 &amp; Access Management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2057400" y="2999232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Kills cluster-admin sprawl, wildcard RBAC and default-SA use.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0" y="283464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KG-011 · KG-012 · KG-016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22960" y="3493008"/>
            <a:ext cx="10515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822960" y="3493008"/>
            <a:ext cx="1051560" cy="8412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5" name="Text 12"/>
          <p:cNvSpPr/>
          <p:nvPr/>
        </p:nvSpPr>
        <p:spPr>
          <a:xfrm>
            <a:off x="822960" y="3749040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2-3</a:t>
            </a:r>
            <a:endParaRPr lang="en-US" sz="1900" dirty="0"/>
          </a:p>
        </p:txBody>
      </p:sp>
      <p:sp>
        <p:nvSpPr>
          <p:cNvPr id="16" name="Text 13"/>
          <p:cNvSpPr/>
          <p:nvPr/>
        </p:nvSpPr>
        <p:spPr>
          <a:xfrm>
            <a:off x="2057400" y="3602736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System &amp; Facilities Protection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2057400" y="3931920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privileged containers, hostPath mounts, dangerous capabilities.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132320" y="3767328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KG-001 · KG-002 · KG-008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822960" y="4425696"/>
            <a:ext cx="10515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22960" y="4425696"/>
            <a:ext cx="1051560" cy="8412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1" name="Text 18"/>
          <p:cNvSpPr/>
          <p:nvPr/>
        </p:nvSpPr>
        <p:spPr>
          <a:xfrm>
            <a:off x="822960" y="4681728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2057400" y="4535424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Networks Security Management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2057400" y="4864608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Enforces default-deny networking and no raw internet exposure.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7132320" y="4700016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KG-003 · KG-017 · KG-018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822960" y="5358384"/>
            <a:ext cx="10515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822960" y="5358384"/>
            <a:ext cx="1051560" cy="84124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7" name="Text 24"/>
          <p:cNvSpPr/>
          <p:nvPr/>
        </p:nvSpPr>
        <p:spPr>
          <a:xfrm>
            <a:off x="822960" y="561441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2-15</a:t>
            </a:r>
            <a:endParaRPr lang="en-US" sz="1900" dirty="0"/>
          </a:p>
        </p:txBody>
      </p:sp>
      <p:sp>
        <p:nvSpPr>
          <p:cNvPr id="28" name="Text 25"/>
          <p:cNvSpPr/>
          <p:nvPr/>
        </p:nvSpPr>
        <p:spPr>
          <a:xfrm>
            <a:off x="2057400" y="546811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Information Protection</a:t>
            </a:r>
            <a:endParaRPr lang="en-US" sz="1450" dirty="0"/>
          </a:p>
        </p:txBody>
      </p:sp>
      <p:sp>
        <p:nvSpPr>
          <p:cNvPr id="29" name="Text 26"/>
          <p:cNvSpPr/>
          <p:nvPr/>
        </p:nvSpPr>
        <p:spPr>
          <a:xfrm>
            <a:off x="2057400" y="5797296"/>
            <a:ext cx="4983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Stops broad Secret access and needless token mounting.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7132320" y="5632704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KG-013 · KG-015</a:t>
            </a:r>
            <a:endParaRPr lang="en-US" sz="1150" dirty="0"/>
          </a:p>
        </p:txBody>
      </p:sp>
      <p:sp>
        <p:nvSpPr>
          <p:cNvPr id="31" name="Text 28"/>
          <p:cNvSpPr/>
          <p:nvPr/>
        </p:nvSpPr>
        <p:spPr>
          <a:xfrm>
            <a:off x="822960" y="6382512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 </a:t>
            </a:r>
            <a:pPr indent="0" marL="0">
              <a:buNone/>
            </a:pPr>
            <a:r>
              <a:rPr lang="en-US" sz="105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pack maps to ECC-1:2018 domains; the NCA’s ECC-2:2024 (108 controls) now supersedes it — the same checks carry forward, the pack is a YAML drop-in to update.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LENS · KSA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solves for a Saudi entity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84708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436" y="1999244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8653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Regulator-ready evidence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115568" y="2514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ECC compliance is mandatory and audited for government bodies and CNI operators. KubeGuard turns cluster state into a per-domain scorecard an NCA assessor can read — no manual YAML review.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84708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1999244"/>
            <a:ext cx="280904" cy="2809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8653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migration without losing control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56248" y="2514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ECC-2 shifts data-localization to the NDMO and KSA moves to cloud, posture drift is the new risk. KubeGuard runs offline, in-Kingdom, with no phone-home — sovereign by construction.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97280" y="399592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436" y="4148084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Continuous, not annual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115568" y="46634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 gate (fail-on high) and admission webhook stop non-compliant workloads at deploy time, so entities stay continuously aligned between formal assessments.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399592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116" y="4148084"/>
            <a:ext cx="280904" cy="2809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Defensible by design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56248" y="46634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Read-only, deterministic, secret-redacting. Nothing KubeGuard does could itself breach ECC — it observes and reports, never mutates or exfiltrates.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457200"/>
            <a:ext cx="548640" cy="548640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599846"/>
            <a:ext cx="263347" cy="26334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6692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LENS · ENGLAND / UNITED KINGDOM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822960" y="114300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Mapping the same checks to UK regimes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22960" y="1828800"/>
            <a:ext cx="10515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UK pack ships out of the box, but KubeGuard’s control vocabulary lines up cleanly with the four regimes a UK organisation is measured against. The mapping below is indicative — a YAML pack makes it native.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822960" y="2578608"/>
            <a:ext cx="105156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822960" y="2578608"/>
            <a:ext cx="109728" cy="8869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2688336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NCSC Cyber Assessment Framework 4.0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1097280" y="3035808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Obj. B — protecting against attack: B2 identity &amp; access control, B4 system security. Obj. A risk, Obj. C detect.</a:t>
            </a:r>
            <a:endParaRPr lang="en-US" sz="1080" dirty="0"/>
          </a:p>
        </p:txBody>
      </p:sp>
      <p:sp>
        <p:nvSpPr>
          <p:cNvPr id="11" name="Text 8"/>
          <p:cNvSpPr/>
          <p:nvPr/>
        </p:nvSpPr>
        <p:spPr>
          <a:xfrm>
            <a:off x="7178040" y="2871216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KG-011/12/16 · KG-001→008 · KG-017/18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3557016"/>
            <a:ext cx="105156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22960" y="3557016"/>
            <a:ext cx="109728" cy="8869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1"/>
          <p:cNvSpPr/>
          <p:nvPr/>
        </p:nvSpPr>
        <p:spPr>
          <a:xfrm>
            <a:off x="1097280" y="3666744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Essentials (5 controls)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1097280" y="4014216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configuration, user access control, and network/firewall controls map directly to KubeGuard’s checks.</a:t>
            </a:r>
            <a:endParaRPr lang="en-US" sz="1080" dirty="0"/>
          </a:p>
        </p:txBody>
      </p:sp>
      <p:sp>
        <p:nvSpPr>
          <p:cNvPr id="16" name="Text 13"/>
          <p:cNvSpPr/>
          <p:nvPr/>
        </p:nvSpPr>
        <p:spPr>
          <a:xfrm>
            <a:off x="7178040" y="384962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KG-006/07/09/20 · KG-013/14 · KG-018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822960" y="4535424"/>
            <a:ext cx="105156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822960" y="4535424"/>
            <a:ext cx="109728" cy="8869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9" name="Text 16"/>
          <p:cNvSpPr/>
          <p:nvPr/>
        </p:nvSpPr>
        <p:spPr>
          <a:xfrm>
            <a:off x="1097280" y="464515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GDPR &amp; Data Protection Act 2018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97280" y="4992624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Art. 5(1)(f) integrity-and-confidentiality and Art. 32 “appropriate technical measures” for data workloads.</a:t>
            </a:r>
            <a:endParaRPr lang="en-US" sz="1080" dirty="0"/>
          </a:p>
        </p:txBody>
      </p:sp>
      <p:sp>
        <p:nvSpPr>
          <p:cNvPr id="21" name="Text 18"/>
          <p:cNvSpPr/>
          <p:nvPr/>
        </p:nvSpPr>
        <p:spPr>
          <a:xfrm>
            <a:off x="7178040" y="4828032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KG-013 · KG-015 · KG-016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822960" y="5513832"/>
            <a:ext cx="10515600" cy="886968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822960" y="5513832"/>
            <a:ext cx="109728" cy="886968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1"/>
          <p:cNvSpPr/>
          <p:nvPr/>
        </p:nvSpPr>
        <p:spPr>
          <a:xfrm>
            <a:off x="1097280" y="56235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 Regs / Cyber Security &amp; Resilience Bill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1097280" y="5971032"/>
            <a:ext cx="5989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&amp; information-systems security duties for operators of essential &amp; digital services.</a:t>
            </a:r>
            <a:endParaRPr lang="en-US" sz="1080" dirty="0"/>
          </a:p>
        </p:txBody>
      </p:sp>
      <p:sp>
        <p:nvSpPr>
          <p:cNvPr id="26" name="Text 23"/>
          <p:cNvSpPr/>
          <p:nvPr/>
        </p:nvSpPr>
        <p:spPr>
          <a:xfrm>
            <a:off x="7178040" y="58064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KG-003 · KG-017 · KG-018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 LENS · UK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this solves for a UK organisation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55448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97280" y="184708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436" y="1999244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18653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ICO-defensible “appropriate measures”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1115568" y="2514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GDPR Art. 32 demands technical measures proportionate to risk. A KubeGuard scorecard is contemporaneous evidence that you assessed and hardened your data-processing clusters.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55448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37960" y="184708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1999244"/>
            <a:ext cx="280904" cy="2809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186537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CAF outcomes, evidenced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6556248" y="251460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CAF is outcome-based, not a checklist. KubeGuard supplies the “protect against attack” and “detect” evidence regulators (and CAF 4.0’s secure-software focus) expect.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1097280" y="399592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436" y="4148084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Cyber Essentials certification prep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1115568" y="46634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directly to the secure-configuration and access-control controls, surfacing gaps before an assessor does — faster, cheaper certification.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703320"/>
            <a:ext cx="52120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537960" y="3995928"/>
            <a:ext cx="585216" cy="585216"/>
          </a:xfrm>
          <a:prstGeom prst="ellipse">
            <a:avLst/>
          </a:prstGeom>
          <a:solidFill>
            <a:srgbClr val="F1F5F4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116" y="4148084"/>
            <a:ext cx="280904" cy="2809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014216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Supply-chain &amp; deploy-time control</a:t>
            </a:r>
            <a:endParaRPr lang="en-US" sz="1500" dirty="0"/>
          </a:p>
        </p:txBody>
      </p:sp>
      <p:sp>
        <p:nvSpPr>
          <p:cNvPr id="23" name="Text 17"/>
          <p:cNvSpPr/>
          <p:nvPr/>
        </p:nvSpPr>
        <p:spPr>
          <a:xfrm>
            <a:off x="6556248" y="4663440"/>
            <a:ext cx="4617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Admission webhook + CI gate enforce posture before workloads reach production — meeting CAF 4.0’s emphasis on secure software and resilient operations.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COMPLIANCE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2A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same scan answers your business auditors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two country lenses, KubeGuard ships four more packs covering the global standards customers and partners contractually require — one scan, every scorecard.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822960" y="2194560"/>
            <a:ext cx="5212080" cy="1691640"/>
          </a:xfrm>
          <a:prstGeom prst="rect">
            <a:avLst/>
          </a:prstGeom>
          <a:solidFill>
            <a:srgbClr val="F1F5F4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194560"/>
            <a:ext cx="521208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7" name="Text 5"/>
          <p:cNvSpPr/>
          <p:nvPr/>
        </p:nvSpPr>
        <p:spPr>
          <a:xfrm>
            <a:off x="1115568" y="24505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DSS v4.0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5568" y="290779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Cardholder-data environments: restricted ingress, config standards, least privilege, strong auth.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115568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1.3.1 · 2.2.1 · 7.2.1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63640" y="2194560"/>
            <a:ext cx="5212080" cy="1691640"/>
          </a:xfrm>
          <a:prstGeom prst="rect">
            <a:avLst/>
          </a:prstGeom>
          <a:solidFill>
            <a:srgbClr val="F1F5F4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63640" y="2194560"/>
            <a:ext cx="521208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Text 10"/>
          <p:cNvSpPr/>
          <p:nvPr/>
        </p:nvSpPr>
        <p:spPr>
          <a:xfrm>
            <a:off x="6556248" y="245059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ISO/IEC 27001:2022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56248" y="290779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Annex A: privileged access, configuration management, network security &amp; segregation.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56248" y="3520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A.8.2 · A.8.9 · A.8.20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" y="4069080"/>
            <a:ext cx="5212080" cy="1691640"/>
          </a:xfrm>
          <a:prstGeom prst="rect">
            <a:avLst/>
          </a:prstGeom>
          <a:solidFill>
            <a:srgbClr val="F1F5F4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22960" y="4069080"/>
            <a:ext cx="521208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7" name="Text 15"/>
          <p:cNvSpPr/>
          <p:nvPr/>
        </p:nvSpPr>
        <p:spPr>
          <a:xfrm>
            <a:off x="1115568" y="43251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NIST SP 800-53 Rev.5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115568" y="478231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AC-6 least privilege, AC-4 flow enforcement, CM-7 least functionality, SC-7 boundary.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15568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AC-6 · SC-7 · CM-7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4069080"/>
            <a:ext cx="5212080" cy="1691640"/>
          </a:xfrm>
          <a:prstGeom prst="rect">
            <a:avLst/>
          </a:prstGeom>
          <a:solidFill>
            <a:srgbClr val="F1F5F4"/>
          </a:solidFill>
          <a:ln w="12700">
            <a:solidFill>
              <a:srgbClr val="D7E0DE"/>
            </a:solidFill>
            <a:prstDash val="solid"/>
          </a:ln>
          <a:effectLst>
            <a:outerShdw sx="100000" sy="100000" kx="0" ky="0" algn="bl" rotWithShape="0" blurRad="88900" dist="38100" dir="8100000">
              <a:srgbClr val="0E2A2B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63640" y="4069080"/>
            <a:ext cx="5212080" cy="109728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22" name="Text 20"/>
          <p:cNvSpPr/>
          <p:nvPr/>
        </p:nvSpPr>
        <p:spPr>
          <a:xfrm>
            <a:off x="6556248" y="432511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DPDP Act 2023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6248" y="478231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Reasonable security safeguards, breach prevention/detection, and access limitation.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56248" y="53949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D94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8.5 · 8.6 · 8.7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605332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frameworks total — CIS Kubernetes Benchmark + the five above — each a data-driven YAML pack; adding a framework is a drop-in, not a code change.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2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029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AUDITORS TRUST 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822960" y="777240"/>
            <a:ext cx="10515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Evidence that survives an audit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212080" cy="1874520"/>
          </a:xfrm>
          <a:prstGeom prst="rect">
            <a:avLst/>
          </a:prstGeom>
          <a:solidFill>
            <a:srgbClr val="163B3C"/>
          </a:solidFill>
          <a:ln w="12700">
            <a:solidFill>
              <a:srgbClr val="1F4F5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97280" y="2103120"/>
            <a:ext cx="585216" cy="585216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9436" y="2255276"/>
            <a:ext cx="280904" cy="2809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1214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report formats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1115568" y="2743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Console, JSON, SARIF 2.1.0 and a self-contained HTML dashboard — plus file/SQLite history for drift over time.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1828800"/>
            <a:ext cx="5212080" cy="1874520"/>
          </a:xfrm>
          <a:prstGeom prst="rect">
            <a:avLst/>
          </a:prstGeom>
          <a:solidFill>
            <a:srgbClr val="163B3C"/>
          </a:solidFill>
          <a:ln w="12700">
            <a:solidFill>
              <a:srgbClr val="1F4F5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37960" y="2103120"/>
            <a:ext cx="585216" cy="585216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116" y="2255276"/>
            <a:ext cx="280904" cy="2809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315200" y="21214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paths, not just findings</a:t>
            </a:r>
            <a:endParaRPr lang="en-US" sz="1550" dirty="0"/>
          </a:p>
        </p:txBody>
      </p:sp>
      <p:sp>
        <p:nvSpPr>
          <p:cNvPr id="13" name="Text 9"/>
          <p:cNvSpPr/>
          <p:nvPr/>
        </p:nvSpPr>
        <p:spPr>
          <a:xfrm>
            <a:off x="6556248" y="27432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ATT&amp;CK-tagged narrative shows the business impact of each gap — descriptive, never a weaponised exploit.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822960" y="3886200"/>
            <a:ext cx="5212080" cy="1874520"/>
          </a:xfrm>
          <a:prstGeom prst="rect">
            <a:avLst/>
          </a:prstGeom>
          <a:solidFill>
            <a:srgbClr val="163B3C"/>
          </a:solidFill>
          <a:ln w="12700">
            <a:solidFill>
              <a:srgbClr val="1F4F5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097280" y="4160520"/>
            <a:ext cx="585216" cy="585216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9436" y="4312676"/>
            <a:ext cx="280904" cy="2809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1788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&amp; deterministic</a:t>
            </a:r>
            <a:endParaRPr lang="en-US" sz="1550" dirty="0"/>
          </a:p>
        </p:txBody>
      </p:sp>
      <p:sp>
        <p:nvSpPr>
          <p:cNvPr id="18" name="Text 13"/>
          <p:cNvSpPr/>
          <p:nvPr/>
        </p:nvSpPr>
        <p:spPr>
          <a:xfrm>
            <a:off x="1115568" y="48006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sort order, no wall-clock noise, runs fully offline — two runs of the same input give the same evidence.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3886200"/>
            <a:ext cx="5212080" cy="1874520"/>
          </a:xfrm>
          <a:prstGeom prst="rect">
            <a:avLst/>
          </a:prstGeom>
          <a:solidFill>
            <a:srgbClr val="163B3C"/>
          </a:solidFill>
          <a:ln w="12700">
            <a:solidFill>
              <a:srgbClr val="1F4F50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6537960" y="4160520"/>
            <a:ext cx="585216" cy="585216"/>
          </a:xfrm>
          <a:prstGeom prst="ellipse">
            <a:avLst/>
          </a:prstGeom>
          <a:solidFill>
            <a:srgbClr val="0E2A2B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0116" y="4312676"/>
            <a:ext cx="280904" cy="2809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315200" y="417880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accountable supply chain</a:t>
            </a:r>
            <a:endParaRPr lang="en-US" sz="1550" dirty="0"/>
          </a:p>
        </p:txBody>
      </p:sp>
      <p:sp>
        <p:nvSpPr>
          <p:cNvPr id="23" name="Text 17"/>
          <p:cNvSpPr/>
          <p:nvPr/>
        </p:nvSpPr>
        <p:spPr>
          <a:xfrm>
            <a:off x="6556248" y="480060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Releases are cosign-signed with a CycloneDX SBOM and SLSA provenance; secret values are never logged or emitted.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59E0B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822960"/>
            <a:ext cx="731520" cy="731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scan. Three compliance audiences.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41248" y="30632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KSA NCA ECC</a:t>
            </a:r>
            <a:pPr indent="0" marL="0">
              <a:buNone/>
            </a:pPr>
            <a:r>
              <a:rPr lang="en-US" sz="1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 CAF / GDPR / Cyber Essentials</a:t>
            </a:r>
            <a:pPr indent="0" marL="0">
              <a:buNone/>
            </a:pPr>
            <a:r>
              <a:rPr lang="en-US" sz="17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700" b="1" dirty="0">
                <a:solidFill>
                  <a:srgbClr val="5EEA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PCI · ISO 27001 · NIST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841248" y="3794760"/>
            <a:ext cx="98755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FE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KubeGuard converts the security posture of a Kubernetes cluster into honest, reproducible, regulator-ready evidence — detecting the misconfigurations that breach controls, chaining them into business impact, and handing you the fix. Offline, read-only, and sovereign by construction.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41248" y="5943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8FB3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pass-rates are reported as “breached / passed of assessed” with an indicative-mapping disclaimer — never a bare compliant verdict.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KubeGuard — Compliance Problems Solved</dc:title>
  <dc:subject>PptxGenJS Presentation</dc:subject>
  <dc:creator>KubeGuard</dc:creator>
  <cp:lastModifiedBy>KubeGuard</cp:lastModifiedBy>
  <cp:revision>1</cp:revision>
  <dcterms:created xsi:type="dcterms:W3CDTF">2026-06-07T17:11:53Z</dcterms:created>
  <dcterms:modified xsi:type="dcterms:W3CDTF">2026-06-07T17:11:53Z</dcterms:modified>
</cp:coreProperties>
</file>